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1945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324A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B-RIGHT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02336" y="61264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D88BA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Bail Rights  •  Risk-assessment  •  Guarantee Help Tool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02336" y="859536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887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กลไกนวัตกรรมเพื่อให้การปล่อยตัวชั่วคราวในชั้นสอบสวนเข้าถึงได้ทุกคน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646920" y="228600"/>
            <a:ext cx="2103120" cy="621792"/>
          </a:xfrm>
          <a:prstGeom prst="roundRect">
            <a:avLst>
              <a:gd name="adj" fmla="val 26471"/>
            </a:avLst>
          </a:prstGeom>
          <a:solidFill>
            <a:srgbClr val="17324A"/>
          </a:solidFill>
          <a:ln w="15240">
            <a:solidFill>
              <a:srgbClr val="1732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65792" y="338328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จาก “รอให้ร้องขอ”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สู่ “รัฐประเมินและเสนอทางเลือก”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2618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24A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WHY  |  ปัญหาที่กลไกเข้าไปแก้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" y="1499616"/>
            <a:ext cx="2304288" cy="548640"/>
          </a:xfrm>
          <a:prstGeom prst="roundRect">
            <a:avLst>
              <a:gd name="adj" fmla="val 20000"/>
            </a:avLst>
          </a:prstGeom>
          <a:solidFill>
            <a:srgbClr val="F0F3F5"/>
          </a:solidFill>
          <a:ln w="15240">
            <a:solidFill>
              <a:srgbClr val="C9D3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618488"/>
            <a:ext cx="310896" cy="31089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732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62763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A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0392" y="1581912"/>
            <a:ext cx="17556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A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ระบบตั้งรับ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0392" y="1819656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4A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ผู้ต้องหาต้องรู้สิทธิและยื่นคำร้องเอง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4048" y="2121408"/>
            <a:ext cx="2304288" cy="548640"/>
          </a:xfrm>
          <a:prstGeom prst="roundRect">
            <a:avLst>
              <a:gd name="adj" fmla="val 20000"/>
            </a:avLst>
          </a:prstGeom>
          <a:solidFill>
            <a:srgbClr val="F0F3F5"/>
          </a:solidFill>
          <a:ln w="15240">
            <a:solidFill>
              <a:srgbClr val="C9D3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2240280"/>
            <a:ext cx="310896" cy="31089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732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24942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A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⚖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0392" y="2203704"/>
            <a:ext cx="17556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A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ดุลพินิจไม่เป็นมาตรฐาน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0392" y="2441448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4A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ไม่มีแบบประเมินความเสี่ยงที่ใช้ร่วมกัน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" y="2743200"/>
            <a:ext cx="2304288" cy="548640"/>
          </a:xfrm>
          <a:prstGeom prst="roundRect">
            <a:avLst>
              <a:gd name="adj" fmla="val 20000"/>
            </a:avLst>
          </a:prstGeom>
          <a:solidFill>
            <a:srgbClr val="F0F3F5"/>
          </a:solidFill>
          <a:ln w="15240">
            <a:solidFill>
              <a:srgbClr val="C9D3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" y="2862072"/>
            <a:ext cx="310896" cy="31089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732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87121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A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↔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0392" y="2825496"/>
            <a:ext cx="17556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A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หลักประกันไม่เชื่อมต่อ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0392" y="3063240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4A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คนไม่มีทรัพย์เข้าถึงกองทุน/ทางเลือกได้ยาก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4048" y="35112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24A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HOW  |  กลไก 3 เครื่องยนต์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84048" y="3749040"/>
            <a:ext cx="2304288" cy="640080"/>
          </a:xfrm>
          <a:prstGeom prst="roundRect">
            <a:avLst>
              <a:gd name="adj" fmla="val 17143"/>
            </a:avLst>
          </a:prstGeom>
          <a:solidFill>
            <a:srgbClr val="E2EEFA"/>
          </a:solidFill>
          <a:ln w="15240">
            <a:solidFill>
              <a:srgbClr val="4D88B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" y="3913632"/>
            <a:ext cx="310896" cy="31089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45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92277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5A8A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0392" y="3831336"/>
            <a:ext cx="17556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5A8A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01  Risk Assessment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50392" y="406908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45A8A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ประเมินเหตุเสี่ยงตามกฎหมาย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45A8A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หลบหนี • ยุ่งเหยิงพยาน • อันตรายอื่น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84048" y="4471416"/>
            <a:ext cx="2304288" cy="640080"/>
          </a:xfrm>
          <a:prstGeom prst="roundRect">
            <a:avLst>
              <a:gd name="adj" fmla="val 17143"/>
            </a:avLst>
          </a:prstGeom>
          <a:solidFill>
            <a:srgbClr val="EEE9FA"/>
          </a:solidFill>
          <a:ln w="15240">
            <a:solidFill>
              <a:srgbClr val="7666C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" y="4636008"/>
            <a:ext cx="310896" cy="31089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4F4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464515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439A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▤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0392" y="4553712"/>
            <a:ext cx="17556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439A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02  Government Data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50392" y="4791456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4F439A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เชื่อมข้อมูลทรัพย์สิน ประวัติ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F439A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และสถานะคดี ลดเวลาข้ามหน่วยงาน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84048" y="5193792"/>
            <a:ext cx="2304288" cy="640080"/>
          </a:xfrm>
          <a:prstGeom prst="roundRect">
            <a:avLst>
              <a:gd name="adj" fmla="val 17143"/>
            </a:avLst>
          </a:prstGeom>
          <a:solidFill>
            <a:srgbClr val="EAF4FC"/>
          </a:solidFill>
          <a:ln w="15240">
            <a:solidFill>
              <a:srgbClr val="4D88B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" y="5358384"/>
            <a:ext cx="310896" cy="31089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45A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" y="536752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5A8A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↔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50392" y="5276088"/>
            <a:ext cx="17556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5A8A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03  Guarantee Help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50392" y="5513832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45A8A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เสนอผู้ค้ำ/ตำแหน่งหน้าที่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45A8A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และเชื่อมกองทุนยุติธรรม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889504" y="1261872"/>
            <a:ext cx="6720840" cy="5230368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 w="15240">
            <a:solidFill>
              <a:srgbClr val="D5DEE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27248" y="14447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24A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FLOW  |  กระบวนการ B-RIGHT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8119872" y="1435608"/>
            <a:ext cx="1234440" cy="256032"/>
          </a:xfrm>
          <a:prstGeom prst="roundRect">
            <a:avLst>
              <a:gd name="adj" fmla="val 42857"/>
            </a:avLst>
          </a:prstGeom>
          <a:solidFill>
            <a:srgbClr val="E2EEFA"/>
          </a:solidFill>
          <a:ln w="15240">
            <a:solidFill>
              <a:srgbClr val="4D88B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56448" y="1490472"/>
            <a:ext cx="11521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45A8A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ตรวจสอบย้อนหลังได้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160520" y="1810512"/>
            <a:ext cx="4160520" cy="438912"/>
          </a:xfrm>
          <a:prstGeom prst="roundRect">
            <a:avLst>
              <a:gd name="adj" fmla="val 25000"/>
            </a:avLst>
          </a:prstGeom>
          <a:solidFill>
            <a:srgbClr val="F0EEE8"/>
          </a:solidFill>
          <a:ln w="15240">
            <a:solidFill>
              <a:srgbClr val="C9C3B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33672" y="1892808"/>
            <a:ext cx="4014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1  รับตัวผู้ต้องหา + แจ้งสิทธิ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251960" y="2148840"/>
            <a:ext cx="397764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53746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เริ่มนับเวลาการควบคุมตัว ไม่เกิน 48 ชั่วโมง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236208" y="2249424"/>
            <a:ext cx="0" cy="100584"/>
          </a:xfrm>
          <a:prstGeom prst="line">
            <a:avLst/>
          </a:prstGeom>
          <a:noFill/>
          <a:ln w="17780">
            <a:solidFill>
              <a:srgbClr val="A8B6BF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4160520" y="2432304"/>
            <a:ext cx="4160520" cy="438912"/>
          </a:xfrm>
          <a:prstGeom prst="roundRect">
            <a:avLst>
              <a:gd name="adj" fmla="val 25000"/>
            </a:avLst>
          </a:prstGeom>
          <a:solidFill>
            <a:srgbClr val="E2EEFA"/>
          </a:solidFill>
          <a:ln w="15240">
            <a:solidFill>
              <a:srgbClr val="4D88B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33672" y="2514600"/>
            <a:ext cx="4014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5A8A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2  ดึงข้อมูลจากระบบภาครัฐ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251960" y="2770632"/>
            <a:ext cx="397764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45A8A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ทางรัฐ / CRIMES / DXC  •  ทรัพย์สิน / ประวัติ / สถานะคดี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236208" y="2871216"/>
            <a:ext cx="0" cy="100584"/>
          </a:xfrm>
          <a:prstGeom prst="line">
            <a:avLst/>
          </a:prstGeom>
          <a:noFill/>
          <a:ln w="17780">
            <a:solidFill>
              <a:srgbClr val="A8B6BF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4160520" y="3054096"/>
            <a:ext cx="4160520" cy="438912"/>
          </a:xfrm>
          <a:prstGeom prst="roundRect">
            <a:avLst>
              <a:gd name="adj" fmla="val 25000"/>
            </a:avLst>
          </a:prstGeom>
          <a:solidFill>
            <a:srgbClr val="EEE9FA"/>
          </a:solidFill>
          <a:ln w="15240">
            <a:solidFill>
              <a:srgbClr val="7666C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33672" y="3136392"/>
            <a:ext cx="4014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439A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3  สัมภาษณ์และตรวจสอบข้อเท็จจริง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251960" y="3392424"/>
            <a:ext cx="397764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4F439A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ข้อมูลออนไลน์ + ข้อมูลจากผู้ต้องหา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236208" y="3493008"/>
            <a:ext cx="0" cy="100584"/>
          </a:xfrm>
          <a:prstGeom prst="line">
            <a:avLst/>
          </a:prstGeom>
          <a:noFill/>
          <a:ln w="17780">
            <a:solidFill>
              <a:srgbClr val="A8B6BF"/>
            </a:solidFill>
            <a:prstDash val="solid"/>
            <a:headEnd type="non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3703320" y="3675888"/>
            <a:ext cx="5074920" cy="512064"/>
          </a:xfrm>
          <a:prstGeom prst="roundRect">
            <a:avLst>
              <a:gd name="adj" fmla="val 21429"/>
            </a:avLst>
          </a:prstGeom>
          <a:solidFill>
            <a:srgbClr val="F8F8FA"/>
          </a:solidFill>
          <a:ln w="15240">
            <a:solidFill>
              <a:srgbClr val="8797A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776472" y="3758184"/>
            <a:ext cx="4928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4  ระบบประเมินและแสดงระดับความเสี่ยง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3794760" y="4014216"/>
            <a:ext cx="4892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53746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ผลประเมินเป็นหลักฐานรองรับการใช้ดุลพินิจ • ส่งภาพรวมไปยัง Policy Dashboard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236208" y="4187952"/>
            <a:ext cx="0" cy="91440"/>
          </a:xfrm>
          <a:prstGeom prst="line">
            <a:avLst/>
          </a:prstGeom>
          <a:noFill/>
          <a:ln w="17780">
            <a:solidFill>
              <a:srgbClr val="A8B6BF"/>
            </a:solidFill>
            <a:prstDash val="solid"/>
            <a:headEnd type="none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3657600" y="4279392"/>
            <a:ext cx="5577840" cy="0"/>
          </a:xfrm>
          <a:prstGeom prst="line">
            <a:avLst/>
          </a:prstGeom>
          <a:noFill/>
          <a:ln w="15240">
            <a:solidFill>
              <a:srgbClr val="A8B6B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657600" y="4279392"/>
            <a:ext cx="0" cy="82296"/>
          </a:xfrm>
          <a:prstGeom prst="line">
            <a:avLst/>
          </a:prstGeom>
          <a:noFill/>
          <a:ln w="17780">
            <a:solidFill>
              <a:srgbClr val="A8B6BF"/>
            </a:solidFill>
            <a:prstDash val="solid"/>
            <a:headEnd type="none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5669280" y="4279392"/>
            <a:ext cx="0" cy="82296"/>
          </a:xfrm>
          <a:prstGeom prst="line">
            <a:avLst/>
          </a:prstGeom>
          <a:noFill/>
          <a:ln w="17780">
            <a:solidFill>
              <a:srgbClr val="A8B6BF"/>
            </a:solidFill>
            <a:prstDash val="solid"/>
            <a:headEnd type="none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7680960" y="4279392"/>
            <a:ext cx="0" cy="82296"/>
          </a:xfrm>
          <a:prstGeom prst="line">
            <a:avLst/>
          </a:prstGeom>
          <a:noFill/>
          <a:ln w="17780">
            <a:solidFill>
              <a:srgbClr val="A8B6BF"/>
            </a:solidFill>
            <a:prstDash val="solid"/>
            <a:headEnd type="none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3127248" y="4361688"/>
            <a:ext cx="1554480" cy="585216"/>
          </a:xfrm>
          <a:prstGeom prst="roundRect">
            <a:avLst>
              <a:gd name="adj" fmla="val 18750"/>
            </a:avLst>
          </a:prstGeom>
          <a:solidFill>
            <a:srgbClr val="DDF3E7"/>
          </a:solidFill>
          <a:ln w="15240">
            <a:solidFill>
              <a:srgbClr val="2D996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00400" y="4443984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6846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สีเขียว  |  เสี่ยงต่ำ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3218688" y="4700016"/>
            <a:ext cx="1371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46846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ปล่อยตัวทันที • ไม่ต้องมีหลักประกัน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102352" y="4361688"/>
            <a:ext cx="1554480" cy="585216"/>
          </a:xfrm>
          <a:prstGeom prst="roundRect">
            <a:avLst>
              <a:gd name="adj" fmla="val 18750"/>
            </a:avLst>
          </a:prstGeom>
          <a:solidFill>
            <a:srgbClr val="FFF0C7"/>
          </a:solidFill>
          <a:ln w="15240">
            <a:solidFill>
              <a:srgbClr val="D89A1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175504" y="4443984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15500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สีเหลือง  |  ปานกลาง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5193792" y="4700016"/>
            <a:ext cx="1371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15500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คำนวณหลักประกันตามความเสี่ยง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077456" y="4361688"/>
            <a:ext cx="1554480" cy="585216"/>
          </a:xfrm>
          <a:prstGeom prst="roundRect">
            <a:avLst>
              <a:gd name="adj" fmla="val 18750"/>
            </a:avLst>
          </a:prstGeom>
          <a:solidFill>
            <a:srgbClr val="F9DCDC"/>
          </a:solidFill>
          <a:ln w="15240">
            <a:solidFill>
              <a:srgbClr val="C94B4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150608" y="4443984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C2929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สีแดง  |  เสี่ยงสูง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7168896" y="4700016"/>
            <a:ext cx="1371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C2929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ไม่อนุญาต • แจ้งเหตุผลเป็นหนังสือ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3904488" y="4946904"/>
            <a:ext cx="0" cy="82296"/>
          </a:xfrm>
          <a:prstGeom prst="line">
            <a:avLst/>
          </a:prstGeom>
          <a:noFill/>
          <a:ln w="17780">
            <a:solidFill>
              <a:srgbClr val="2D9968"/>
            </a:solidFill>
            <a:prstDash val="solid"/>
            <a:headEnd type="none"/>
            <a:tailEnd type="triangle"/>
          </a:ln>
        </p:spPr>
      </p:sp>
      <p:sp>
        <p:nvSpPr>
          <p:cNvPr id="73" name="Shape 71"/>
          <p:cNvSpPr/>
          <p:nvPr/>
        </p:nvSpPr>
        <p:spPr>
          <a:xfrm>
            <a:off x="3127248" y="5074920"/>
            <a:ext cx="1554480" cy="566928"/>
          </a:xfrm>
          <a:prstGeom prst="roundRect">
            <a:avLst>
              <a:gd name="adj" fmla="val 19355"/>
            </a:avLst>
          </a:prstGeom>
          <a:solidFill>
            <a:srgbClr val="DDF3E7"/>
          </a:solidFill>
          <a:ln w="15240">
            <a:solidFill>
              <a:srgbClr val="73B99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200400" y="5157216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6846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บันทึกผลการประเมิน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3218688" y="5413248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46846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เป็นหลักฐานและหลังพิงของพนักงานสอบสวน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5879592" y="4946904"/>
            <a:ext cx="0" cy="82296"/>
          </a:xfrm>
          <a:prstGeom prst="line">
            <a:avLst/>
          </a:prstGeom>
          <a:noFill/>
          <a:ln w="17780">
            <a:solidFill>
              <a:srgbClr val="D89A12"/>
            </a:solidFill>
            <a:prstDash val="solid"/>
            <a:headEnd type="none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5102352" y="5074920"/>
            <a:ext cx="1554480" cy="566928"/>
          </a:xfrm>
          <a:prstGeom prst="roundRect">
            <a:avLst>
              <a:gd name="adj" fmla="val 19355"/>
            </a:avLst>
          </a:prstGeom>
          <a:solidFill>
            <a:srgbClr val="FFF0C7"/>
          </a:solidFill>
          <a:ln w="15240">
            <a:solidFill>
              <a:srgbClr val="E5B94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175504" y="5157216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15500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ตรวจสอบหลักประกัน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5193792" y="5413248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15500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มีผู้ค้ำ/หลักทรัพย์ผ่านระบบ → ปล่อยชั่วคราว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7854696" y="4946904"/>
            <a:ext cx="0" cy="82296"/>
          </a:xfrm>
          <a:prstGeom prst="line">
            <a:avLst/>
          </a:prstGeom>
          <a:noFill/>
          <a:ln w="17780">
            <a:solidFill>
              <a:srgbClr val="C94B4B"/>
            </a:solidFill>
            <a:prstDash val="solid"/>
            <a:headEnd type="none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7077456" y="5074920"/>
            <a:ext cx="1554480" cy="566928"/>
          </a:xfrm>
          <a:prstGeom prst="roundRect">
            <a:avLst>
              <a:gd name="adj" fmla="val 19355"/>
            </a:avLst>
          </a:prstGeom>
          <a:solidFill>
            <a:srgbClr val="F9DCDC"/>
          </a:solidFill>
          <a:ln w="15240">
            <a:solidFill>
              <a:srgbClr val="DB808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150608" y="5157216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C2929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หากครบ 48 ชม. ยังไม่เสร็จ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7168896" y="5413248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C2929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ขอฝากขังต่อศาล ตาม ป.วิ.อาญา ม.87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3346704" y="5769864"/>
            <a:ext cx="3401568" cy="438912"/>
          </a:xfrm>
          <a:prstGeom prst="roundRect">
            <a:avLst>
              <a:gd name="adj" fmla="val 25000"/>
            </a:avLst>
          </a:prstGeom>
          <a:solidFill>
            <a:srgbClr val="EAF4FC"/>
          </a:solidFill>
          <a:ln w="15240">
            <a:solidFill>
              <a:srgbClr val="4D88B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419856" y="5852160"/>
            <a:ext cx="3255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5A8A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หากไม่มีหรือหลักประกันไม่เพียงพอ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3438144" y="6108192"/>
            <a:ext cx="3218688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45A8A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เสนอผู้ค้ำ/ตำแหน่งหน้าที่ → หาหลักประกันเพิ่ม → ประเมินซ้ำ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6876288" y="5769864"/>
            <a:ext cx="1883664" cy="438912"/>
          </a:xfrm>
          <a:prstGeom prst="roundRect">
            <a:avLst>
              <a:gd name="adj" fmla="val 25000"/>
            </a:avLst>
          </a:prstGeom>
          <a:solidFill>
            <a:srgbClr val="EAF4FC"/>
          </a:solidFill>
          <a:ln w="15240">
            <a:solidFill>
              <a:srgbClr val="4D88B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949440" y="585216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5A8A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ช่องทางช่วยเหลือ</a:t>
            </a:r>
            <a:endParaRPr lang="en-US" sz="1200" dirty="0"/>
          </a:p>
        </p:txBody>
      </p:sp>
      <p:sp>
        <p:nvSpPr>
          <p:cNvPr id="89" name="Text 87"/>
          <p:cNvSpPr/>
          <p:nvPr/>
        </p:nvSpPr>
        <p:spPr>
          <a:xfrm>
            <a:off x="6967728" y="6108192"/>
            <a:ext cx="1700784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45A8A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กองทุนยุติธรรม + Offline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9802368" y="12618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24A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RESULT  |  ผลลัพธ์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9802368" y="1499616"/>
            <a:ext cx="1975104" cy="749808"/>
          </a:xfrm>
          <a:prstGeom prst="roundRect">
            <a:avLst>
              <a:gd name="adj" fmla="val 14634"/>
            </a:avLst>
          </a:prstGeom>
          <a:solidFill>
            <a:srgbClr val="DDF3E7"/>
          </a:solidFill>
          <a:ln w="15240">
            <a:solidFill>
              <a:srgbClr val="2D996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893808" y="1719072"/>
            <a:ext cx="310896" cy="31089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46846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893808" y="172821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6846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♧</a:t>
            </a:r>
            <a:endParaRPr lang="en-US" sz="1200" dirty="0"/>
          </a:p>
        </p:txBody>
      </p:sp>
      <p:sp>
        <p:nvSpPr>
          <p:cNvPr id="94" name="Text 92"/>
          <p:cNvSpPr/>
          <p:nvPr/>
        </p:nvSpPr>
        <p:spPr>
          <a:xfrm>
            <a:off x="10268712" y="1581912"/>
            <a:ext cx="1426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6846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ประชาชน</a:t>
            </a:r>
            <a:endParaRPr lang="en-US" sz="1200" dirty="0"/>
          </a:p>
        </p:txBody>
      </p:sp>
      <p:sp>
        <p:nvSpPr>
          <p:cNvPr id="95" name="Text 93"/>
          <p:cNvSpPr/>
          <p:nvPr/>
        </p:nvSpPr>
        <p:spPr>
          <a:xfrm>
            <a:off x="10268712" y="1819656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46846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ได้รับการพิจารณาทุกราย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46846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ไม่ขึ้นกับความรู้หรือฐานะ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46846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มีทางออกเมื่อไม่มีหลักทรัพย์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9802368" y="2359152"/>
            <a:ext cx="1975104" cy="749808"/>
          </a:xfrm>
          <a:prstGeom prst="roundRect">
            <a:avLst>
              <a:gd name="adj" fmla="val 14634"/>
            </a:avLst>
          </a:prstGeom>
          <a:solidFill>
            <a:srgbClr val="E2EEFA"/>
          </a:solidFill>
          <a:ln w="15240">
            <a:solidFill>
              <a:srgbClr val="4D88B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893808" y="2578608"/>
            <a:ext cx="310896" cy="31089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45A8A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9893808" y="258775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5A8A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♙</a:t>
            </a:r>
            <a:endParaRPr lang="en-US" sz="1200" dirty="0"/>
          </a:p>
        </p:txBody>
      </p:sp>
      <p:sp>
        <p:nvSpPr>
          <p:cNvPr id="99" name="Text 97"/>
          <p:cNvSpPr/>
          <p:nvPr/>
        </p:nvSpPr>
        <p:spPr>
          <a:xfrm>
            <a:off x="10268712" y="2441448"/>
            <a:ext cx="1426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5A8A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พนักงานสอบสวน</a:t>
            </a:r>
            <a:endParaRPr lang="en-US" sz="1200" dirty="0"/>
          </a:p>
        </p:txBody>
      </p:sp>
      <p:sp>
        <p:nvSpPr>
          <p:cNvPr id="100" name="Text 98"/>
          <p:cNvSpPr/>
          <p:nvPr/>
        </p:nvSpPr>
        <p:spPr>
          <a:xfrm>
            <a:off x="10268712" y="2679192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45A8A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มีเกณฑ์และหลักฐานรองรับ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45A8A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ลดความเสี่ยงทางวินัย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45A8A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ลดข้อครหา 2 มาตรฐาน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9802368" y="3218688"/>
            <a:ext cx="1975104" cy="749808"/>
          </a:xfrm>
          <a:prstGeom prst="roundRect">
            <a:avLst>
              <a:gd name="adj" fmla="val 14634"/>
            </a:avLst>
          </a:prstGeom>
          <a:solidFill>
            <a:srgbClr val="EEE9FA"/>
          </a:solidFill>
          <a:ln w="15240">
            <a:solidFill>
              <a:srgbClr val="7666C6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893808" y="3438144"/>
            <a:ext cx="310896" cy="31089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4F439A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9893808" y="344728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439A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▤</a:t>
            </a:r>
            <a:endParaRPr lang="en-US" sz="1200" dirty="0"/>
          </a:p>
        </p:txBody>
      </p:sp>
      <p:sp>
        <p:nvSpPr>
          <p:cNvPr id="104" name="Text 102"/>
          <p:cNvSpPr/>
          <p:nvPr/>
        </p:nvSpPr>
        <p:spPr>
          <a:xfrm>
            <a:off x="10268712" y="3300984"/>
            <a:ext cx="1426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439A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ระบบยุติธรรม</a:t>
            </a:r>
            <a:endParaRPr lang="en-US" sz="1200" dirty="0"/>
          </a:p>
        </p:txBody>
      </p:sp>
      <p:sp>
        <p:nvSpPr>
          <p:cNvPr id="105" name="Text 103"/>
          <p:cNvSpPr/>
          <p:nvPr/>
        </p:nvSpPr>
        <p:spPr>
          <a:xfrm>
            <a:off x="10268712" y="3538728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4F439A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ลดผู้ต้องขังระหว่างสอบสวน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F439A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ลดภาระควบคุมตัว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F439A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เพิ่มความเชื่อมั่น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9802368" y="4151376"/>
            <a:ext cx="1975104" cy="960120"/>
          </a:xfrm>
          <a:prstGeom prst="roundRect">
            <a:avLst>
              <a:gd name="adj" fmla="val 17143"/>
            </a:avLst>
          </a:prstGeom>
          <a:solidFill>
            <a:srgbClr val="17324A"/>
          </a:solidFill>
          <a:ln w="15240">
            <a:solidFill>
              <a:srgbClr val="17324A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9930384" y="4297680"/>
            <a:ext cx="1719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9C9E4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PRINCIPLE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9912096" y="4517136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แยกทางเดินด้วย “ระดับความเสี่ยง”</a:t>
            </a:r>
            <a:endParaRPr lang="en-US" sz="1100" dirty="0"/>
          </a:p>
        </p:txBody>
      </p:sp>
      <p:sp>
        <p:nvSpPr>
          <p:cNvPr id="109" name="Text 107"/>
          <p:cNvSpPr/>
          <p:nvPr/>
        </p:nvSpPr>
        <p:spPr>
          <a:xfrm>
            <a:off x="9912096" y="4773168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DCEBF7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ไม่ใช่ฐานะทางเศรษฐกิจ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CEBF7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หรือความสามารถในการร้องขอ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9930384" y="5321808"/>
            <a:ext cx="1719072" cy="256032"/>
          </a:xfrm>
          <a:prstGeom prst="roundRect">
            <a:avLst>
              <a:gd name="adj" fmla="val 50000"/>
            </a:avLst>
          </a:prstGeom>
          <a:solidFill>
            <a:srgbClr val="DDF3E7"/>
          </a:solidFill>
          <a:ln w="15240">
            <a:solidFill>
              <a:srgbClr val="2D9968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9966960" y="5385816"/>
            <a:ext cx="1645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6846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เป้าหมาย: ภายใน 48 ชม.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384048" y="6547104"/>
            <a:ext cx="11384280" cy="274320"/>
          </a:xfrm>
          <a:prstGeom prst="roundRect">
            <a:avLst>
              <a:gd name="adj" fmla="val 46667"/>
            </a:avLst>
          </a:prstGeom>
          <a:solidFill>
            <a:srgbClr val="EDF3F6"/>
          </a:solidFill>
          <a:ln w="15240">
            <a:solidFill>
              <a:srgbClr val="C8D5DC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30352" y="6611112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4A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นำไปสู่การปฏิบัติ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1691640" y="6583680"/>
            <a:ext cx="713232" cy="182880"/>
          </a:xfrm>
          <a:prstGeom prst="roundRect">
            <a:avLst>
              <a:gd name="adj" fmla="val 50000"/>
            </a:avLst>
          </a:prstGeom>
          <a:solidFill>
            <a:srgbClr val="E2EEFA"/>
          </a:solidFill>
          <a:ln w="15240">
            <a:solidFill>
              <a:srgbClr val="4D88BA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728216" y="6620256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45A8A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ระเบียบ</a:t>
            </a:r>
            <a:endParaRPr lang="en-US" sz="700" dirty="0"/>
          </a:p>
        </p:txBody>
      </p:sp>
      <p:sp>
        <p:nvSpPr>
          <p:cNvPr id="116" name="Text 114"/>
          <p:cNvSpPr/>
          <p:nvPr/>
        </p:nvSpPr>
        <p:spPr>
          <a:xfrm>
            <a:off x="2514600" y="6611112"/>
            <a:ext cx="1600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887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กำหนดหน้าที่ประเมินทุกกรณี</a:t>
            </a:r>
            <a:endParaRPr lang="en-US" sz="800" dirty="0"/>
          </a:p>
        </p:txBody>
      </p:sp>
      <p:sp>
        <p:nvSpPr>
          <p:cNvPr id="117" name="Shape 115"/>
          <p:cNvSpPr/>
          <p:nvPr/>
        </p:nvSpPr>
        <p:spPr>
          <a:xfrm>
            <a:off x="4206240" y="6583680"/>
            <a:ext cx="713232" cy="182880"/>
          </a:xfrm>
          <a:prstGeom prst="roundRect">
            <a:avLst>
              <a:gd name="adj" fmla="val 50000"/>
            </a:avLst>
          </a:prstGeom>
          <a:solidFill>
            <a:srgbClr val="E2EEFA"/>
          </a:solidFill>
          <a:ln w="15240">
            <a:solidFill>
              <a:srgbClr val="4D88BA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4242816" y="6620256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45A8A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ข้อมูล</a:t>
            </a:r>
            <a:endParaRPr lang="en-US" sz="700" dirty="0"/>
          </a:p>
        </p:txBody>
      </p:sp>
      <p:sp>
        <p:nvSpPr>
          <p:cNvPr id="119" name="Text 117"/>
          <p:cNvSpPr/>
          <p:nvPr/>
        </p:nvSpPr>
        <p:spPr>
          <a:xfrm>
            <a:off x="5029200" y="6611112"/>
            <a:ext cx="1600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887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กำหนดสิทธิ์เข้าถึง/MOU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6720840" y="6583680"/>
            <a:ext cx="713232" cy="182880"/>
          </a:xfrm>
          <a:prstGeom prst="roundRect">
            <a:avLst>
              <a:gd name="adj" fmla="val 50000"/>
            </a:avLst>
          </a:prstGeom>
          <a:solidFill>
            <a:srgbClr val="E2EEFA"/>
          </a:solidFill>
          <a:ln w="15240">
            <a:solidFill>
              <a:srgbClr val="4D88BA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757416" y="6620256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45A8A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บุคลากร</a:t>
            </a:r>
            <a:endParaRPr lang="en-US" sz="700" dirty="0"/>
          </a:p>
        </p:txBody>
      </p:sp>
      <p:sp>
        <p:nvSpPr>
          <p:cNvPr id="122" name="Text 120"/>
          <p:cNvSpPr/>
          <p:nvPr/>
        </p:nvSpPr>
        <p:spPr>
          <a:xfrm>
            <a:off x="7543800" y="6611112"/>
            <a:ext cx="1600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887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อบรมแบบประเมินและระบบ</a:t>
            </a:r>
            <a:endParaRPr lang="en-US" sz="800" dirty="0"/>
          </a:p>
        </p:txBody>
      </p:sp>
      <p:sp>
        <p:nvSpPr>
          <p:cNvPr id="123" name="Shape 121"/>
          <p:cNvSpPr/>
          <p:nvPr/>
        </p:nvSpPr>
        <p:spPr>
          <a:xfrm>
            <a:off x="9235440" y="6583680"/>
            <a:ext cx="713232" cy="182880"/>
          </a:xfrm>
          <a:prstGeom prst="roundRect">
            <a:avLst>
              <a:gd name="adj" fmla="val 50000"/>
            </a:avLst>
          </a:prstGeom>
          <a:solidFill>
            <a:srgbClr val="E2EEFA"/>
          </a:solidFill>
          <a:ln w="15240">
            <a:solidFill>
              <a:srgbClr val="4D88BA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9272016" y="6620256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45A8A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ติดตาม</a:t>
            </a:r>
            <a:endParaRPr lang="en-US" sz="700" dirty="0"/>
          </a:p>
        </p:txBody>
      </p:sp>
      <p:sp>
        <p:nvSpPr>
          <p:cNvPr id="125" name="Text 123"/>
          <p:cNvSpPr/>
          <p:nvPr/>
        </p:nvSpPr>
        <p:spPr>
          <a:xfrm>
            <a:off x="10058400" y="6611112"/>
            <a:ext cx="1600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887"/>
                </a:solidFill>
                <a:latin typeface="Bai Jamjuree" pitchFamily="34" charset="0"/>
                <a:ea typeface="Bai Jamjuree" pitchFamily="34" charset="-122"/>
                <a:cs typeface="Bai Jamjuree" pitchFamily="34" charset="-120"/>
              </a:rPr>
              <a:t>KPI + ตรวจสอบผลเป็นระยะ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ai Jamjure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ai Jamjure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B-RIGHT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B-RIGHT</dc:title>
  <dc:subject>B-RIGHT One-page interactive infographic</dc:subject>
  <dc:creator>Codex</dc:creator>
  <cp:lastModifiedBy>Codex</cp:lastModifiedBy>
  <cp:revision>1</cp:revision>
  <dcterms:created xsi:type="dcterms:W3CDTF">2026-08-24T12:03:30Z</dcterms:created>
  <dcterms:modified xsi:type="dcterms:W3CDTF">2026-08-24T12:03:30Z</dcterms:modified>
</cp:coreProperties>
</file>